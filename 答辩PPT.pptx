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Microsoft YaHei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Microsoft YaHei"/>
              </a:rPr>
              <a:t>相对 Nomos 的搜索时间倍数 (×)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客户端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Crime</c:v>
                  </c:pt>
                  <c:pt idx="1">
                    <c:v>Enron</c:v>
                  </c:pt>
                  <c:pt idx="2">
                    <c:v>Wiki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1.08</c:v>
                </c:pt>
                <c:pt idx="1">
                  <c:v>1.09</c:v>
                </c:pt>
                <c:pt idx="2">
                  <c:v>1.07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授权管理方</c:v>
                </c:pt>
              </c:strCache>
            </c:strRef>
          </c:tx>
          <c:spPr>
            <a:solidFill>
              <a:srgbClr val="0F1A4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Crime</c:v>
                  </c:pt>
                  <c:pt idx="1">
                    <c:v>Enron</c:v>
                  </c:pt>
                  <c:pt idx="2">
                    <c:v>Wiki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1.04</c:v>
                </c:pt>
                <c:pt idx="1">
                  <c:v>1.05</c:v>
                </c:pt>
                <c:pt idx="2">
                  <c:v>1.03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服务器</c:v>
                </c:pt>
              </c:strCache>
            </c:strRef>
          </c:tx>
          <c:spPr>
            <a:solidFill>
              <a:srgbClr val="E8B92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Crime</c:v>
                  </c:pt>
                  <c:pt idx="1">
                    <c:v>Enron</c:v>
                  </c:pt>
                  <c:pt idx="2">
                    <c:v>Wiki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1.19</c:v>
                </c:pt>
                <c:pt idx="1">
                  <c:v>1.2</c:v>
                </c:pt>
                <c:pt idx="2">
                  <c:v>1.17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3"/>
          <c:min val="0.9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VER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1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880360"/>
            <a:ext cx="164592" cy="1097280"/>
          </a:xfrm>
          <a:prstGeom prst="rect">
            <a:avLst/>
          </a:prstGeom>
          <a:solidFill>
            <a:srgbClr val="E8B923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E8B92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面向多用户多关键词的可验证可搜索加密方案研究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418320" y="5486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硕士学位论文答辩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华中科技大学  网络空间安全学院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37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37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硕士学位论文答辩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面向多用户多关键词的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可验证可搜索加密方案研究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on Verifiable Searchable Encryption Scheme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Multi-User and Multi-Keyword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4754880"/>
            <a:ext cx="3840480" cy="36576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920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 辩 人：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XXX
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指导教师：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XXX 教授
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学科专业：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网络空间安全
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培养单位：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华中科技大学  网络空间安全学院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6400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5 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 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719072"/>
            <a:ext cx="548640" cy="73152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82296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645920" y="2011680"/>
            <a:ext cx="4480560" cy="621792"/>
          </a:xfrm>
          <a:prstGeom prst="rect">
            <a:avLst/>
          </a:prstGeom>
          <a:solidFill>
            <a:srgbClr val="F6F8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3080" y="2011680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研究背景与意义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46520" y="2011680"/>
            <a:ext cx="82296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2011680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269480" y="2011680"/>
            <a:ext cx="4480560" cy="621792"/>
          </a:xfrm>
          <a:prstGeom prst="rect">
            <a:avLst/>
          </a:prstGeom>
          <a:solidFill>
            <a:srgbClr val="F6F8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0" y="2011680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研究现状与相关工作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2816352"/>
            <a:ext cx="82296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816352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645920" y="2816352"/>
            <a:ext cx="4480560" cy="621792"/>
          </a:xfrm>
          <a:prstGeom prst="rect">
            <a:avLst/>
          </a:prstGeom>
          <a:solidFill>
            <a:srgbClr val="F6F8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83080" y="2816352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系统模型与基础协议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46520" y="2816352"/>
            <a:ext cx="82296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816352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269480" y="2816352"/>
            <a:ext cx="4480560" cy="621792"/>
          </a:xfrm>
          <a:prstGeom prst="rect">
            <a:avLst/>
          </a:prstGeom>
          <a:solidFill>
            <a:srgbClr val="F6F8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2816352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创新点一：基于 MHT 的可验证资格检验机制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" y="3621024"/>
            <a:ext cx="82296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621024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645920" y="3621024"/>
            <a:ext cx="4480560" cy="621792"/>
          </a:xfrm>
          <a:prstGeom prst="rect">
            <a:avLst/>
          </a:prstGeom>
          <a:solidFill>
            <a:srgbClr val="F6F8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83080" y="3621024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创新点二：基于 Merkle-Open 的地址绑定验证机制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46520" y="3621024"/>
            <a:ext cx="82296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3621024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7269480" y="3621024"/>
            <a:ext cx="4480560" cy="621792"/>
          </a:xfrm>
          <a:prstGeom prst="rect">
            <a:avLst/>
          </a:prstGeom>
          <a:solidFill>
            <a:srgbClr val="F6F8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6640" y="3621024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安全性分析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22960" y="4425696"/>
            <a:ext cx="82296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4425696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1645920" y="4425696"/>
            <a:ext cx="4480560" cy="621792"/>
          </a:xfrm>
          <a:prstGeom prst="rect">
            <a:avLst/>
          </a:prstGeom>
          <a:solidFill>
            <a:srgbClr val="F6F8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83080" y="4425696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性能分析与实验评估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446520" y="4425696"/>
            <a:ext cx="82296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4425696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7269480" y="4425696"/>
            <a:ext cx="4480560" cy="621792"/>
          </a:xfrm>
          <a:prstGeom prst="rect">
            <a:avLst/>
          </a:prstGeom>
          <a:solidFill>
            <a:srgbClr val="F6F8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0" y="4425696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37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云存储与可搜索加密（SSE）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719072"/>
            <a:ext cx="548640" cy="73152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20240"/>
            <a:ext cx="6858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云存储规模持续扩张，数据隐私与可用性矛盾加剧</a:t>
            </a:r>
            <a:endParaRPr lang="en-US" sz="1500" dirty="0"/>
          </a:p>
          <a:p>
            <a:pPr lvl="1" marL="6858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敏感数据面临多重风险：外部渗透、内部越权、服务商窥探</a:t>
            </a:r>
            <a:endParaRPr lang="en-US" sz="1500" dirty="0"/>
          </a:p>
          <a:p>
            <a:pPr lvl="1" marL="6858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传统加密存储使明文检索能力丧失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可搜索加密（SSE）在密文上直接执行关键词检索</a:t>
            </a:r>
            <a:endParaRPr lang="en-US" sz="1500" dirty="0"/>
          </a:p>
          <a:p>
            <a:pPr lvl="1" marL="6858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对称可搜索加密：高效、适合大规模密文索引</a:t>
            </a:r>
            <a:endParaRPr lang="en-US" sz="1500" dirty="0"/>
          </a:p>
          <a:p>
            <a:pPr lvl="1" marL="6858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演进路径：单关键词 → 合取查询 → 动态更新 → 多用户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863840" y="1965960"/>
            <a:ext cx="3931920" cy="4114800"/>
          </a:xfrm>
          <a:prstGeom prst="roundRect">
            <a:avLst>
              <a:gd name="adj" fmla="val 1860"/>
            </a:avLst>
          </a:prstGeom>
          <a:solidFill>
            <a:srgbClr val="F6F8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2057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[图：SSE 典型三方架构]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092440" y="2606040"/>
            <a:ext cx="3474720" cy="594360"/>
          </a:xfrm>
          <a:prstGeom prst="roundRect">
            <a:avLst>
              <a:gd name="adj" fmla="val 923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26060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数据拥有者 / 授权管理方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92440" y="3794760"/>
            <a:ext cx="3474720" cy="594360"/>
          </a:xfrm>
          <a:prstGeom prst="roundRect">
            <a:avLst>
              <a:gd name="adj" fmla="val 9231"/>
            </a:avLst>
          </a:prstGeom>
          <a:solidFill>
            <a:srgbClr val="0F1A4A"/>
          </a:solidFill>
          <a:ln w="12700">
            <a:solidFill>
              <a:srgbClr val="0F1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37947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授权用户 𝒞ᵢ（查询 + 验证）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92440" y="4983480"/>
            <a:ext cx="3474720" cy="594360"/>
          </a:xfrm>
          <a:prstGeom prst="roundRect">
            <a:avLst>
              <a:gd name="adj" fmla="val 9231"/>
            </a:avLst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49834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云服务器 𝒮（存储 + 检索）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829800" y="3200400"/>
            <a:ext cx="0" cy="594360"/>
          </a:xfrm>
          <a:prstGeom prst="line">
            <a:avLst/>
          </a:prstGeom>
          <a:noFill/>
          <a:ln w="25400">
            <a:solidFill>
              <a:srgbClr val="E8B92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829800" y="4389120"/>
            <a:ext cx="0" cy="594360"/>
          </a:xfrm>
          <a:prstGeom prst="line">
            <a:avLst/>
          </a:prstGeom>
          <a:noFill/>
          <a:ln w="25400">
            <a:solidFill>
              <a:srgbClr val="E8B923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37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研究问题与挑战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多用户多关键词 SSE 的可验证性缺陷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719072"/>
            <a:ext cx="548640" cy="73152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288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</a:t>
            </a:r>
            <a:pPr indent="0" marL="0">
              <a:buNone/>
            </a:pPr>
            <a:r>
              <a:rPr lang="en-US" sz="17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恶意云服务器可能偏离协议执行，而授权用户缺乏有效验证手段。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256032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F6F8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560320"/>
            <a:ext cx="109728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7004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判定位伪造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3337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基础协议在位数组上执行资格检验，服务器仅返回布尔结果，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缺乏密码学证据，恶意方可伪造为 0/1。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256032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F6F8FC"/>
          </a:solidFill>
          <a:ln w="9525">
            <a:solidFill>
              <a:srgbClr val="0F1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560320"/>
            <a:ext cx="109728" cy="2286000"/>
          </a:xfrm>
          <a:prstGeom prst="rect">
            <a:avLst/>
          </a:prstGeom>
          <a:solidFill>
            <a:srgbClr val="0F1A4A"/>
          </a:solidFill>
          <a:ln w="12700">
            <a:solidFill>
              <a:srgbClr val="0F1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267004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地址替换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00600" y="3108960"/>
            <a:ext cx="3337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OPRF 盲化下，客户端无法独立重算物理地址；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恶意服务器可将采样地址替换为其它合法但未授权的位置。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58200" y="256032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F6F8FC"/>
          </a:solidFill>
          <a:ln w="9525">
            <a:solidFill>
              <a:srgbClr val="5A63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2560320"/>
            <a:ext cx="109728" cy="2286000"/>
          </a:xfrm>
          <a:prstGeom prst="rect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0" y="267004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版本回放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0" y="3108960"/>
            <a:ext cx="3337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无版本锚定机制时，服务器可用历史位数组状态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应答当前查询，绕过后续更新。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5074920"/>
            <a:ext cx="1097280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1663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9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关键挑战：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现有可验证 SSE 方案大多只验证最终结果集，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缺乏对检索流程内部（资格检验 / 地址寻址）的系统性验证能力。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37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研究意义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把「不可见的内部检索步骤」转化为「可验证的密码学过程」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719072"/>
            <a:ext cx="548640" cy="73152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57400"/>
            <a:ext cx="10972800" cy="1234440"/>
          </a:xfrm>
          <a:prstGeom prst="roundRect">
            <a:avLst>
              <a:gd name="adj" fmla="val 5926"/>
            </a:avLst>
          </a:prstGeom>
          <a:solidFill>
            <a:srgbClr val="F6F8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33172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31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2194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理论意义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91640" y="25603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将验证对象从结果集扩展到资格检验位值与寻址地址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为动态合取查询 SSE 提供更细粒度的形式化安全目标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474720"/>
            <a:ext cx="10972800" cy="1234440"/>
          </a:xfrm>
          <a:prstGeom prst="roundRect">
            <a:avLst>
              <a:gd name="adj" fmla="val 5926"/>
            </a:avLst>
          </a:prstGeom>
          <a:solidFill>
            <a:srgbClr val="F6F8FC"/>
          </a:solidFill>
          <a:ln w="12700">
            <a:solidFill>
              <a:srgbClr val="0F1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3749040"/>
            <a:ext cx="685800" cy="685800"/>
          </a:xfrm>
          <a:prstGeom prst="ellipse">
            <a:avLst/>
          </a:prstGeom>
          <a:solidFill>
            <a:srgbClr val="0F1A4A"/>
          </a:solidFill>
          <a:ln w="12700">
            <a:solidFill>
              <a:srgbClr val="0F1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749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91640" y="3611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方法意义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91640" y="39776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在保留 OPRF 盲化与概率数据结构的前提下引入承诺层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Merkle 承诺与选择性开封取得验证能力与效率的平衡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4892040"/>
            <a:ext cx="10972800" cy="1234440"/>
          </a:xfrm>
          <a:prstGeom prst="roundRect">
            <a:avLst>
              <a:gd name="adj" fmla="val 5926"/>
            </a:avLst>
          </a:prstGeom>
          <a:solidFill>
            <a:srgbClr val="F6F8FC"/>
          </a:solidFill>
          <a:ln w="12700">
            <a:solidFill>
              <a:srgbClr val="5A63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5166360"/>
            <a:ext cx="685800" cy="685800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1663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91640" y="5029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应用意义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91640" y="53949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轻量级机制附加开销有限，适配多用户云端部署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为云存储合规性、责任可追溯性提供密码学基础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37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研究现状（一）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对称可搜索加密方案的演进脉络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719072"/>
            <a:ext cx="548640" cy="73152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474720"/>
            <a:ext cx="1060704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19072" y="3355848"/>
            <a:ext cx="329184" cy="329184"/>
          </a:xfrm>
          <a:prstGeom prst="ellipse">
            <a:avLst/>
          </a:prstGeom>
          <a:solidFill>
            <a:srgbClr val="E8B923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83664" y="2788920"/>
            <a:ext cx="0" cy="685800"/>
          </a:xfrm>
          <a:prstGeom prst="line">
            <a:avLst/>
          </a:prstGeom>
          <a:noFill/>
          <a:ln w="19050">
            <a:solidFill>
              <a:srgbClr val="5A6378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923544" y="201168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544" y="2057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Song et al.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23544" y="23591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首个 SSE 方案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单关键词 / 静态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0" y="3355848"/>
            <a:ext cx="329184" cy="329184"/>
          </a:xfrm>
          <a:prstGeom prst="ellipse">
            <a:avLst/>
          </a:prstGeom>
          <a:solidFill>
            <a:srgbClr val="E8B923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05072" y="3547872"/>
            <a:ext cx="0" cy="566928"/>
          </a:xfrm>
          <a:prstGeom prst="line">
            <a:avLst/>
          </a:prstGeom>
          <a:noFill/>
          <a:ln w="19050">
            <a:solidFill>
              <a:srgbClr val="0F1A4A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044952" y="411480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0F1A4A"/>
          </a:solidFill>
          <a:ln w="12700">
            <a:solidFill>
              <a:srgbClr val="0F1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44952" y="4160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OXT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44952" y="44622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合取查询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TSet + XSet 架构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61888" y="3355848"/>
            <a:ext cx="329184" cy="329184"/>
          </a:xfrm>
          <a:prstGeom prst="ellipse">
            <a:avLst/>
          </a:prstGeom>
          <a:solidFill>
            <a:srgbClr val="E8B923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2788920"/>
            <a:ext cx="0" cy="685800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166360" y="201168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2057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ODXT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66360" y="23591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动态合取查询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前向 / 后向安全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83296" y="3355848"/>
            <a:ext cx="329184" cy="329184"/>
          </a:xfrm>
          <a:prstGeom prst="ellipse">
            <a:avLst/>
          </a:prstGeom>
          <a:solidFill>
            <a:srgbClr val="E8B923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47888" y="3547872"/>
            <a:ext cx="0" cy="566928"/>
          </a:xfrm>
          <a:prstGeom prst="line">
            <a:avLst/>
          </a:prstGeom>
          <a:noFill/>
          <a:ln w="19050">
            <a:solidFill>
              <a:srgbClr val="0F1A4A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287768" y="411480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0F1A4A"/>
          </a:solidFill>
          <a:ln w="12700">
            <a:solidFill>
              <a:srgbClr val="0F1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87768" y="4160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MC-ODXT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287768" y="44622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多客户端合取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密钥分发机制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204704" y="3355848"/>
            <a:ext cx="329184" cy="329184"/>
          </a:xfrm>
          <a:prstGeom prst="ellipse">
            <a:avLst/>
          </a:prstGeom>
          <a:solidFill>
            <a:srgbClr val="E8B923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369296" y="2788920"/>
            <a:ext cx="0" cy="685800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9409176" y="201168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09176" y="2057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Nomos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409176" y="23591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最新基线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多用户多关键词 + 动态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" y="57607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规律：</a:t>
            </a:r>
            <a:pPr algn="l" indent="0" marL="0">
              <a:buNone/>
            </a:pPr>
            <a:r>
              <a:rPr lang="en-US" sz="15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功能（查询表达 / 动态更新 / 多用户）不断增强，</a:t>
            </a:r>
            <a:pPr algn="l" indent="0" marL="0">
              <a:buNone/>
            </a:pPr>
            <a:r>
              <a:rPr lang="en-US" sz="1500" b="1" dirty="0">
                <a:solidFill>
                  <a:srgbClr val="E8B9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但可验证性研究始终滞后。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37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研究现状（二）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现有可验证 SSE 方案的局限性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719072"/>
            <a:ext cx="548640" cy="73152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965960"/>
          <a:ext cx="10972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011680"/>
                <a:gridCol w="2743200"/>
                <a:gridCol w="1828800"/>
                <a:gridCol w="20116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代表方案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查询类型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验证对象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验证粒度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内部步骤覆盖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VSSE 类（早期）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单关键词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结果集完整性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集合级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VCDSSE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合取动态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结果集正确性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集合级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EVMK-SSE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多关键词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结果集 + 版本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集合级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本文方案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多用户动态合取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位值 + 地址 + 结果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 / 地址级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7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4709160"/>
            <a:ext cx="10972800" cy="1600200"/>
          </a:xfrm>
          <a:prstGeom prst="roundRect">
            <a:avLst>
              <a:gd name="adj" fmla="val 4571"/>
            </a:avLst>
          </a:prstGeom>
          <a:solidFill>
            <a:srgbClr val="F6F8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480060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核心局限：
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仅对最终结果集做完整性校验，无法检测资格检验层的位值伪造；
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在 OPRF 盲化架构下无法独立验证采样地址是否属于授权集合；
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验证缺乏版本锚定，易受历史状态回放影响。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37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研究内容概览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两层轻量级可验证机制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719072"/>
            <a:ext cx="548640" cy="73152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965960"/>
            <a:ext cx="5486400" cy="3291840"/>
          </a:xfrm>
          <a:prstGeom prst="roundRect">
            <a:avLst>
              <a:gd name="adj" fmla="val 2222"/>
            </a:avLst>
          </a:prstGeom>
          <a:solidFill>
            <a:srgbClr val="F6F8FC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965960"/>
            <a:ext cx="54864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65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创新点 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MHT 的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可验证资格检验机制 π_VQ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33756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在 RBF 位数组上构建 Merkle Hash Tree 承诺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引入版本锚定签名 Anchorₜ = (t, R_X^(t), σₜ)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支持 Positive / Negative 双向证据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将布尔判定升级为可独立验证的密码学证明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965960"/>
            <a:ext cx="5486400" cy="3291840"/>
          </a:xfrm>
          <a:prstGeom prst="roundRect">
            <a:avLst>
              <a:gd name="adj" fmla="val 2222"/>
            </a:avLst>
          </a:prstGeom>
          <a:solidFill>
            <a:srgbClr val="F6F8FC"/>
          </a:solidFill>
          <a:ln w="15240">
            <a:solidFill>
              <a:srgbClr val="0F1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965960"/>
            <a:ext cx="5486400" cy="457200"/>
          </a:xfrm>
          <a:prstGeom prst="rect">
            <a:avLst/>
          </a:prstGeom>
          <a:solidFill>
            <a:srgbClr val="0F1A4A"/>
          </a:solidFill>
          <a:ln w="12700">
            <a:solidFill>
              <a:srgbClr val="0F1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965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创新点 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251460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Merkle-Open 的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F1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地址绑定验证机制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92240" y="333756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更新阶段对完整地址集合建立 Merkle 根承诺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搜索阶段仅对采样 k 个位置选择性开封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引入 ExistTree 消除空认证分支缺口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验证采样地址属于授权方认证的合法集合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548640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577840"/>
            <a:ext cx="10744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B9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总体目标：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将多用户多关键词 SSE 中不可见的内部检索步骤，转化为具备密码学保障的可验证过程。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37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系统模型与威胁模型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719072"/>
            <a:ext cx="548640" cy="73152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965960"/>
            <a:ext cx="5486400" cy="4389120"/>
          </a:xfrm>
          <a:prstGeom prst="roundRect">
            <a:avLst>
              <a:gd name="adj" fmla="val 1667"/>
            </a:avLst>
          </a:prstGeom>
          <a:solidFill>
            <a:srgbClr val="F6F8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0116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系统模型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三类参与方：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授权管理方 𝒢：持主密钥，负责密钥派发、令牌签发与版本锚定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云服务器 𝒮：存储加密索引，执行检索与资格检验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授权用户 𝒞ᵢ：发起查询并对服务器响应进行验证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基础索引：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TSet：按关键词组织候选条目链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XSet：合取过滤用的位数组（RBF 承载）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OPRF：客户端陷门盲化与服务器本地化评估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1965960"/>
            <a:ext cx="5486400" cy="4389120"/>
          </a:xfrm>
          <a:prstGeom prst="roundRect">
            <a:avLst>
              <a:gd name="adj" fmla="val 1667"/>
            </a:avLst>
          </a:prstGeom>
          <a:solidFill>
            <a:srgbClr val="F6F8FC"/>
          </a:solidFill>
          <a:ln w="12700">
            <a:solidFill>
              <a:srgbClr val="0F1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20116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威胁模型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246888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F1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恶意但受计算资源约束的云服务器：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可偏离协议执行返回伪造 / 不完整结果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可观察搜索模式、访问模式、更新模式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不能打破签名不可伪造与哈希抗碰撞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F1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客户端能力假设：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持有 OPRF 陷门，但不知 XSet 密钥 K_X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无法独立重算物理地址 → 必须借助承诺证明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F1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安全目标：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位值真实性 + 地址归属正确性 + 版本一致性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37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创新点一（1/3）：可验证资格检验 π_VQ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问题与设计思路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719072"/>
            <a:ext cx="548640" cy="73152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92024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F6F8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基础协议的不足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50292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资格检验基于 RBF 概率数据结构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服务器仅输出布尔判定 {0,1}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缺乏密码学验证凭证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无法区分：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- 真实「未命中」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- 恶意服务器伪造的「未命中」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无版本绑定 → 历史状态回放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920240"/>
            <a:ext cx="5486400" cy="4389120"/>
          </a:xfrm>
          <a:prstGeom prst="roundRect">
            <a:avLst>
              <a:gd name="adj" fmla="val 1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011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9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设计思路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46520" y="242316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XSet 位数组 B^(t) 上叠加承诺层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构造 Merkle Hash Tree QTree 承诺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叶承诺 Lₐ^(t) = H(0 ‖ a ‖ B^(t)[a])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内部节点 N = H(1 ‖ N_left ‖ N_right)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引入版本锚定签名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B9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Anchorₜ = ( t, R_X^(t), σₜ 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不改变 RBF 采样语义，仅附加证据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37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创新点一（2/3）：π_VQ 构造与证据类型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719072"/>
            <a:ext cx="548640" cy="73152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920240"/>
            <a:ext cx="6858000" cy="4389120"/>
          </a:xfrm>
          <a:prstGeom prst="roundRect">
            <a:avLst>
              <a:gd name="adj" fmla="val 1667"/>
            </a:avLst>
          </a:prstGeom>
          <a:solidFill>
            <a:srgbClr val="F6F8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0574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[图：位数组 B^(t) 上的 QTree 承诺 + 采样位路径证明]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0" y="2606040"/>
            <a:ext cx="548640" cy="457200"/>
          </a:xfrm>
          <a:prstGeom prst="ellipse">
            <a:avLst/>
          </a:prstGeom>
          <a:solidFill>
            <a:srgbClr val="E8B923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2651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R_X^(t)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24912" y="3383280"/>
            <a:ext cx="402336" cy="365760"/>
          </a:xfrm>
          <a:prstGeom prst="ellipse">
            <a:avLst/>
          </a:prstGeom>
          <a:solidFill>
            <a:srgbClr val="0F1A4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02352" y="3383280"/>
            <a:ext cx="402336" cy="365760"/>
          </a:xfrm>
          <a:prstGeom prst="ellipse">
            <a:avLst/>
          </a:prstGeom>
          <a:solidFill>
            <a:srgbClr val="0F1A4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3063240"/>
            <a:ext cx="-1188720" cy="32004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3063240"/>
            <a:ext cx="1188720" cy="32004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0" y="4297680"/>
            <a:ext cx="365760" cy="32004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B[a₁]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34640" y="4297680"/>
            <a:ext cx="365760" cy="320040"/>
          </a:xfrm>
          <a:prstGeom prst="rect">
            <a:avLst/>
          </a:prstGeom>
          <a:solidFill>
            <a:srgbClr val="E8B923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B[a₂]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0" y="4297680"/>
            <a:ext cx="365760" cy="32004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B[a₃]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12080" y="4297680"/>
            <a:ext cx="365760" cy="320040"/>
          </a:xfrm>
          <a:prstGeom prst="rect">
            <a:avLst/>
          </a:prstGeom>
          <a:solidFill>
            <a:srgbClr val="E8B923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B[a₄]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52160" y="4297680"/>
            <a:ext cx="365760" cy="32004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26080" y="3749040"/>
            <a:ext cx="-731520" cy="54864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0" y="3749040"/>
            <a:ext cx="91440" cy="54864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0" y="3749040"/>
            <a:ext cx="-731520" cy="54864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0" y="3749040"/>
            <a:ext cx="91440" cy="54864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0" y="3749040"/>
            <a:ext cx="731520" cy="54864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892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9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</a:t>
            </a:r>
            <a:pPr indent="0" marL="0">
              <a:buNone/>
            </a:pPr>
            <a:r>
              <a:rPr lang="en-US" sz="12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采样位置  </a:t>
            </a:r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</a:t>
            </a:r>
            <a:pPr indent="0" marL="0">
              <a:buNone/>
            </a:pPr>
            <a:r>
              <a:rPr lang="en-US" sz="12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其他位置  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哈希节点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5349240"/>
            <a:ext cx="6675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Positive 证据 </a:t>
            </a:r>
            <a:pPr indent="0" marL="0">
              <a:buNone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（判定 = 1）：
返回全部 k 条满位地址的 Merkle 路径
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Negative 证据 </a:t>
            </a:r>
            <a:pPr indent="0" marL="0">
              <a:buNone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（判定 = 0）：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至少一条零位地址反例路径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26680" y="1920240"/>
            <a:ext cx="4114800" cy="438912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09560" y="2011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B9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客户端验证（三层）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909560" y="2468880"/>
            <a:ext cx="3749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版本校验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Verify(σₜ, t‖R_X^(t)) = 1
</a:t>
            </a:r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结构校验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每条路径 hash 链至根 R_X^(t)
</a:t>
            </a:r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语义校验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Positive：k 位全为 1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Negative：至少 1 位为 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37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创新点一（3/3）：四个关键算法与复杂度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719072"/>
            <a:ext cx="548640" cy="73152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96596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6F8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965960"/>
            <a:ext cx="146304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65960"/>
            <a:ext cx="1463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210312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授权管理方构建 QTree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 O(M) 哈希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更新仅需 O(ℓ log M) 增量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96596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6F8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65960"/>
            <a:ext cx="146304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65960"/>
            <a:ext cx="1463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TokenBind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01000" y="210312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在令牌中附加版本号 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与采样索引 ν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绑定搜索至当前版本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56616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6F8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566160"/>
            <a:ext cx="146304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566160"/>
            <a:ext cx="1463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Search-Prove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286000" y="370332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服务器按令牌生成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Positive / Negative 证据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返回路径 + 签名锚点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356616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6F8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3566160"/>
            <a:ext cx="146304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566160"/>
            <a:ext cx="1463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01000" y="370332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客户端三层验证：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 → 结构 → 语义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拒绝任意一层失败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525780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303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B9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渐近复杂度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56692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更新：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O(ℓ log M)    </a:t>
            </a:r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搜索证明：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O((N₊·k + N₋) log M)    </a:t>
            </a:r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客户端验证：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O((N₊·k + N₋) log M)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37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创新点二（1/3）：地址绑定问题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为什么仅有 π_VQ 还不够？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719072"/>
            <a:ext cx="548640" cy="73152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920240"/>
            <a:ext cx="11109960" cy="1920240"/>
          </a:xfrm>
          <a:prstGeom prst="roundRect">
            <a:avLst>
              <a:gd name="adj" fmla="val 3810"/>
            </a:avLst>
          </a:prstGeom>
          <a:solidFill>
            <a:srgbClr val="F6F8FC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1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 地址替换攻击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108356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OPRF 盲化架构下，客户端持采样索引 ν 但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不掌握 XSet 密钥 K_X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，无法独立重算物理地址。
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恶意服务器可将采样满位地址 a₀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替换为授权集合外的零位地址 a*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
使 VfPath(R_X^(t), a*, 0, π_{a*}) = 1 依然成立 —— a* 确实在树中且该位为 0。
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客户端无法检测替换，文件被错误剔除，可用性被破坏。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4023360"/>
            <a:ext cx="5440680" cy="2286000"/>
          </a:xfrm>
          <a:prstGeom prst="roundRect">
            <a:avLst>
              <a:gd name="adj" fmla="val 2400"/>
            </a:avLst>
          </a:prstGeom>
          <a:solidFill>
            <a:srgbClr val="F6F8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114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设计约束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452628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更新阶段可利用授权方全局视图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搜索阶段证明开封必须受限于 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不能对完整 ℓ 维集合开封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不能泄露未采样位置信息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55080" y="4023360"/>
            <a:ext cx="5440680" cy="2286000"/>
          </a:xfrm>
          <a:prstGeom prst="roundRect">
            <a:avLst>
              <a:gd name="adj" fmla="val 24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4114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B9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解决思路：Merkle 选择性开封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452628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更新：对完整地址集合建立 Merkle 根承诺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搜索：仅对采样 k 个位置选择性开封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验证：确认 ProofAddr ⊆ A_{j,id}^(t,ν)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E8B9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通信降至 O(k(|𝔾|+λ log ℓ))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37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创新点二（2/3）：Merkle-Open 构造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719072"/>
            <a:ext cx="548640" cy="73152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920240"/>
            <a:ext cx="11109960" cy="1874520"/>
          </a:xfrm>
          <a:prstGeom prst="roundRect">
            <a:avLst>
              <a:gd name="adj" fmla="val 2927"/>
            </a:avLst>
          </a:prstGeom>
          <a:solidFill>
            <a:srgbClr val="F6F8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920240"/>
            <a:ext cx="1737360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20240"/>
            <a:ext cx="173736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B9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更新阶段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60320" y="2057400"/>
            <a:ext cx="91440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对每条关系 (j, id) 的 ℓ 维交叉标签集合  F = { xtag⁽¹⁾, …, xtag⁽ℓ⁾ }  建立 Merkle 树
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叶承诺：  L⁽ʳ⁾ = H_m( 0 ‖ r ‖ xtag⁽ʳ⁾ )
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根认证：  Auth = ( rt, σ_rt ),   σ_rt = Sign( I(w) ‖ rt 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977640"/>
            <a:ext cx="11109960" cy="1874520"/>
          </a:xfrm>
          <a:prstGeom prst="roundRect">
            <a:avLst>
              <a:gd name="adj" fmla="val 2927"/>
            </a:avLst>
          </a:prstGeom>
          <a:solidFill>
            <a:srgbClr val="F6F8FC"/>
          </a:solidFill>
          <a:ln w="12700">
            <a:solidFill>
              <a:srgbClr val="0F1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977640"/>
            <a:ext cx="1737360" cy="1874520"/>
          </a:xfrm>
          <a:prstGeom prst="rect">
            <a:avLst/>
          </a:prstGeom>
          <a:solidFill>
            <a:srgbClr val="0F1A4A"/>
          </a:solidFill>
          <a:ln w="12700">
            <a:solidFill>
              <a:srgbClr val="0F1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977640"/>
            <a:ext cx="173736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B9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搜索阶段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60320" y="4114800"/>
            <a:ext cx="91440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服务器仅对采样位置 { β_i }_{i∈[k]} 返回选择性开封
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Open_{j,id} = { ( β_i, xtag^(β_i), π^(β_i) ) }_{i∈[k]}
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客户端验证：  ① σ_rt 合法   ② VfPath(rt, xtag^(β_i), 1, π^(β_i)) = 1   ③ ProofAddr ⊆ A_{j,id}^(t,ν)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5989320"/>
            <a:ext cx="11109960" cy="41148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9893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9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通信对比：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朴素全开封 O(ℓ |𝔾|)   →   选择性开封 O(k(|𝔾| + λ log ℓ))，k ≪ ℓ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37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创新点二（3/3）：关系存在性承诺 ExistTree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消除「空认证分支缺口」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719072"/>
            <a:ext cx="548640" cy="73152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920240"/>
            <a:ext cx="11109960" cy="109728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16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遗留问题：</a:t>
            </a:r>
            <a:pPr indent="0" marL="0">
              <a:buNone/>
            </a:pPr>
            <a:r>
              <a:rPr lang="en-US" sz="14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服务器可声称「关系 (j, id) 不存在」并返回空认证。
</a:t>
            </a:r>
            <a:pPr indent="0" marL="0">
              <a:buNone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客户端无法区分 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真实不存在</a:t>
            </a:r>
            <a:pPr indent="0" marL="0">
              <a:buNone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 </a:t>
            </a:r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服务器隐匿</a:t>
            </a:r>
            <a:pPr indent="0" marL="0">
              <a:buNone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3200400"/>
            <a:ext cx="5486400" cy="3108960"/>
          </a:xfrm>
          <a:prstGeom prst="roundRect">
            <a:avLst>
              <a:gd name="adj" fmla="val 1765"/>
            </a:avLst>
          </a:prstGeom>
          <a:solidFill>
            <a:srgbClr val="F6F8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291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 ExistTree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703320"/>
            <a:ext cx="51206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R_exist^(t) = { (j, id) | id∈Cand(w_s),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(j, id) 曾被写入 }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在授权管理方侧对 R_exist 维护排序 Merkle 树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支持两类证明：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- 存在性证明：Merkle 成员性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- 不存在性证明：相邻叶证明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3200400"/>
            <a:ext cx="5486400" cy="3108960"/>
          </a:xfrm>
          <a:prstGeom prst="roundRect">
            <a:avLst>
              <a:gd name="adj" fmla="val 176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3291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B9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地址绑定健全性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3703320"/>
            <a:ext cx="51206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情况 ①：地址替换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ProofAddr ⊄ A_{j,id}^(t,ν) 不可通过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情况 ②：存在性伪造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((j,id)∈R_exist ∧ Auth=∅) 不可同时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((j,id)∉R_exist ∧ Auth≠∅) 不可同时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基于：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B9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EUF-CMA 签名不可伪造 + 哈希抗碰撞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37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安全性分析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两层机制的组合可验证性定理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719072"/>
            <a:ext cx="548640" cy="73152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920240"/>
            <a:ext cx="11109960" cy="822960"/>
          </a:xfrm>
          <a:prstGeom prst="roundRect">
            <a:avLst>
              <a:gd name="adj" fmla="val 6667"/>
            </a:avLst>
          </a:prstGeom>
          <a:solidFill>
            <a:srgbClr val="F6F8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20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底层假设：</a:t>
            </a:r>
            <a:pPr indent="0" marL="0">
              <a:buNone/>
            </a:pPr>
            <a:r>
              <a:rPr lang="en-US" sz="14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EUF-CMA 不可伪造签名方案 + 抗碰撞哈希函数族 + OPRF 伪随机性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926080"/>
            <a:ext cx="11109960" cy="960120"/>
          </a:xfrm>
          <a:prstGeom prst="roundRect">
            <a:avLst>
              <a:gd name="adj" fmla="val 5714"/>
            </a:avLst>
          </a:prstGeom>
          <a:solidFill>
            <a:srgbClr val="F6F8FC"/>
          </a:solidFill>
          <a:ln w="12700">
            <a:solidFill>
              <a:srgbClr val="0F1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926080"/>
            <a:ext cx="137160" cy="960120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正确性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20440" y="301752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若参与方诚实执行，客户端以压倒性概率接受所有证据，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验证结果与基础协议语义一致。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4023360"/>
            <a:ext cx="11109960" cy="960120"/>
          </a:xfrm>
          <a:prstGeom prst="roundRect">
            <a:avLst>
              <a:gd name="adj" fmla="val 5714"/>
            </a:avLst>
          </a:prstGeom>
          <a:solidFill>
            <a:srgbClr val="F6F8FC"/>
          </a:solidFill>
          <a:ln w="12700">
            <a:solidFill>
              <a:srgbClr val="0F1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023360"/>
            <a:ext cx="137160" cy="960120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114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绑定健全性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20440" y="411480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位值真实性：恶意服务器无法将 B[a]=1 伪造为 0 或反之；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版本一致性：拒绝历史状态回放攻击。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5120640"/>
            <a:ext cx="11109960" cy="960120"/>
          </a:xfrm>
          <a:prstGeom prst="roundRect">
            <a:avLst>
              <a:gd name="adj" fmla="val 5714"/>
            </a:avLst>
          </a:prstGeom>
          <a:solidFill>
            <a:srgbClr val="F6F8FC"/>
          </a:solidFill>
          <a:ln w="12700">
            <a:solidFill>
              <a:srgbClr val="0F1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5120640"/>
            <a:ext cx="137160" cy="960120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212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条件完整性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520440" y="521208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在候选条目完整返回的前提下，资格检验输出等价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于对真实当前位数组的判定，保证判定完整性。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6263640"/>
            <a:ext cx="1110996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62636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9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组合可验证性定理：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π_VQ ⊕ Merkle-Open 建立从地址归属正确性到位值真实性的完整验证链路。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37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实验设置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719072"/>
            <a:ext cx="548640" cy="73152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920240"/>
            <a:ext cx="5440680" cy="4389120"/>
          </a:xfrm>
          <a:prstGeom prst="roundRect">
            <a:avLst>
              <a:gd name="adj" fmla="val 1250"/>
            </a:avLst>
          </a:prstGeom>
          <a:solidFill>
            <a:srgbClr val="F6F8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硬件与实现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硬件平台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Apple M1 · 8 核 CPU · 16 GB 内存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实现语言与库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C++11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OpenSSL（SHA-256 / HMAC）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RELIC（配对运算）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Ed25519 数字签名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基线方案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Nomos（最新多用户动态合取 SSE）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MC-ODXT（多客户端 ODXT）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920240"/>
            <a:ext cx="5486400" cy="4389120"/>
          </a:xfrm>
          <a:prstGeom prst="roundRect">
            <a:avLst>
              <a:gd name="adj" fmla="val 1250"/>
            </a:avLst>
          </a:prstGeom>
          <a:solidFill>
            <a:srgbClr val="F6F8FC"/>
          </a:solidFill>
          <a:ln w="12700">
            <a:solidFill>
              <a:srgbClr val="0F1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011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514600"/>
          <a:ext cx="5120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463040"/>
                <a:gridCol w="128016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关键词对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不同关键词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最高频次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Crime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7,989,987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63,659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16,644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Enron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5,190,199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16,241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26,946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Wiki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4,565,948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10,000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9,738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492240" y="466344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F1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评估维度：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更新/搜索时间、客户端/服务器存储、通信开销、验证开销随 m 的变化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37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实验结果（一）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搜索时间与性能特性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719072"/>
            <a:ext cx="548640" cy="73152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85800" y="1920240"/>
          <a:ext cx="68580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26680" y="1920240"/>
            <a:ext cx="4114800" cy="4480560"/>
          </a:xfrm>
          <a:prstGeom prst="roundRect">
            <a:avLst>
              <a:gd name="adj" fmla="val 1333"/>
            </a:avLst>
          </a:prstGeom>
          <a:solidFill>
            <a:srgbClr val="F6F8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09560" y="2011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核心发现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909560" y="2468880"/>
            <a:ext cx="3749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客户端增量 &lt; 10 %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授权管理方 &lt; 5 %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 &lt; 20 %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搜索时间随候选集 m 线性增长，符合 O(k|Q| · UpdateCnt[w_s]) 预测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验证开销线性且常数因子较小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E8B9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理论渐近分析与实验高度吻合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37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实验结果（二）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3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存储与通信开销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719072"/>
            <a:ext cx="548640" cy="73152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20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存储开销（相对 Nomos）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86000"/>
          <a:ext cx="11109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2926080"/>
                <a:gridCol w="29718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Nomos 服务器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本文 服务器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客户端相对增量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8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Crime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765 MB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7.4 GB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7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0.1 %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8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Enron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497 MB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4.8 GB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7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0.1 %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8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Wiki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437 MB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4.2 GB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7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0.1 %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4434840"/>
            <a:ext cx="5486400" cy="1920240"/>
          </a:xfrm>
          <a:prstGeom prst="roundRect">
            <a:avLst>
              <a:gd name="adj" fmla="val 2857"/>
            </a:avLst>
          </a:prstGeom>
          <a:solidFill>
            <a:srgbClr val="F6F8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526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通信开销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489204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客户端上传：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增量 &lt; 0.2 %（仅版本号 8 B + 采样索引 8 B）
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服务器下发：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O(k (log M + log ℓ)) 哈希值，k ≪ ℓ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55080" y="4434840"/>
            <a:ext cx="5486400" cy="1920240"/>
          </a:xfrm>
          <a:prstGeom prst="roundRect">
            <a:avLst>
              <a:gd name="adj" fmla="val 2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37960" y="4526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B9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开销权衡讨论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537960" y="489204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服务器存储膨胀源于 MPos + MTree 结构，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渐近为 O(N ℓ λ)，可通过剪枝/压缩进一步优化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客户端状态与通信增量几乎可忽略，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E8B9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利好多用户云端部署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37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总结与主要贡献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719072"/>
            <a:ext cx="548640" cy="73152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920240"/>
            <a:ext cx="11109960" cy="1280160"/>
          </a:xfrm>
          <a:prstGeom prst="roundRect">
            <a:avLst>
              <a:gd name="adj" fmla="val 4286"/>
            </a:avLst>
          </a:prstGeom>
          <a:solidFill>
            <a:srgbClr val="F6F8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920240"/>
            <a:ext cx="182880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贡献 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4231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可验证资格检验机制 π_VQ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97480" y="2057400"/>
            <a:ext cx="8961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RBF 基础上引入 MHT 承诺层与版本锚定签名；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将布尔判定升级为可独立验证的密码学证明；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形式化证明了绑定健全性、版本一致性、条件完整性。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3337560"/>
            <a:ext cx="11109960" cy="1280160"/>
          </a:xfrm>
          <a:prstGeom prst="roundRect">
            <a:avLst>
              <a:gd name="adj" fmla="val 4286"/>
            </a:avLst>
          </a:prstGeom>
          <a:solidFill>
            <a:srgbClr val="F6F8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337560"/>
            <a:ext cx="182880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429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贡献 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8404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Merkle-Open 的地址绑定验证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97480" y="3474720"/>
            <a:ext cx="8961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OPRF 盲化下保护查询隐私的前提下验证地址归属；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单条关系搜索通信从 O(ℓ|𝔾|) 降至 O(k(|𝔾|+λ log ℓ))；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形式化证明了地址绑定健全性。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754880"/>
            <a:ext cx="11109960" cy="1280160"/>
          </a:xfrm>
          <a:prstGeom prst="roundRect">
            <a:avLst>
              <a:gd name="adj" fmla="val 4286"/>
            </a:avLst>
          </a:prstGeom>
          <a:solidFill>
            <a:srgbClr val="F6F8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4754880"/>
            <a:ext cx="182880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846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贡献 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52578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组合可验证性与实验验证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97480" y="4892040"/>
            <a:ext cx="8961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两层机制建立从地址归属到位值真实性的完整验证链路；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Crime/Enron/Wiki 三个数据集上客户端开销增量 &lt; 10 %；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理论与实验一致，证实了机制在实际部署中的可行性。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6263640"/>
            <a:ext cx="11109960" cy="411480"/>
          </a:xfrm>
          <a:prstGeom prst="roundRect">
            <a:avLst>
              <a:gd name="adj" fmla="val 13333"/>
            </a:avLst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62636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把「不可见的内部检索步骤」转化为「可验证的密码学过程」。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37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局限与未来工作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719072"/>
            <a:ext cx="548640" cy="73152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920240"/>
            <a:ext cx="5440680" cy="4389120"/>
          </a:xfrm>
          <a:prstGeom prst="roundRect">
            <a:avLst>
              <a:gd name="adj" fmla="val 1250"/>
            </a:avLst>
          </a:prstGeom>
          <a:solidFill>
            <a:srgbClr val="F6F8F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现有工作的局限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依赖服务器如实返回目标候选条目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未涵盖 TSet 链式索引的枚举完整性验证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服务器侧存储开销相对基线有显著增长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118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仅覆盖合取查询语义，未扩展到析取与布尔组合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920240"/>
            <a:ext cx="5486400" cy="4389120"/>
          </a:xfrm>
          <a:prstGeom prst="roundRect">
            <a:avLst>
              <a:gd name="adj" fmla="val 125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011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9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未来研究方向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TSet 链式结构的 Merkle 承诺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验证候选链长与起始地址，将验证扩展至枚举阶段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支持析取与布尔组合查询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 Merkle-Open 在更复杂查询语义下的扩展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泄露函数与通信开销建模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评估语义扩展对泄露与通信量的影响，指导裁剪优化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37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  谢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spc="300" kern="0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Acknowledgement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0" y="3429000"/>
            <a:ext cx="1216152" cy="45720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840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感谢导师多年来在学术研究上的悉心指导与谆谆教诲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343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感谢实验室全体师兄师姐师弟师妹的支持与陪伴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846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感谢家人一直以来的理解、鼓励与无私支持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5349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感谢各位评审专家抽出宝贵时间评阅本论文并莅临答辩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 &amp;  A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5029200" y="3794760"/>
            <a:ext cx="2130552" cy="73152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spc="300" kern="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敬请各位老师批评指正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4800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Thanks for your attention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760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 XXX   ·   指导教师 XXX 教授   ·   2026 年 5 月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面向多用户多关键词的可验证可搜索加密方案研究</dc:title>
  <dc:subject>PptxGenJS Presentation</dc:subject>
  <dc:creator>PptxGenJS</dc:creator>
  <cp:lastModifiedBy>PptxGenJS</cp:lastModifiedBy>
  <cp:revision>1</cp:revision>
  <dcterms:created xsi:type="dcterms:W3CDTF">2026-04-06T08:51:25Z</dcterms:created>
  <dcterms:modified xsi:type="dcterms:W3CDTF">2026-04-06T08:51:25Z</dcterms:modified>
</cp:coreProperties>
</file>